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4ea10f313c4761" /><Relationship Type="http://schemas.openxmlformats.org/officeDocument/2006/relationships/extended-properties" Target="/docProps/app.xml" Id="Rd4ee284db4464c0c" /><Relationship Type="http://schemas.openxmlformats.org/officeDocument/2006/relationships/officeDocument" Target="/ppt/presentation.xml" Id="R89ea3fa6ccf143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83ff9f03104cd1"/>
  </p:sldMasterIdLst>
  <p:notesMasterIdLst>
    <p:notesMasterId xmlns:r="http://schemas.openxmlformats.org/officeDocument/2006/relationships" r:id="R7d71f3d5aa30469f"/>
  </p:notesMasterIdLst>
  <p:sldIdLst>
    <p:sldId xmlns:r="http://schemas.openxmlformats.org/officeDocument/2006/relationships" id="256" r:id="R59a21ae1c90e460d"/>
    <p:sldId xmlns:r="http://schemas.openxmlformats.org/officeDocument/2006/relationships" id="257" r:id="Ra6a8d9c7a97741bc"/>
    <p:sldId xmlns:r="http://schemas.openxmlformats.org/officeDocument/2006/relationships" id="258" r:id="Re2ecd06be48b488a"/>
    <p:sldId xmlns:r="http://schemas.openxmlformats.org/officeDocument/2006/relationships" id="259" r:id="Rd76848082c2648f5"/>
    <p:sldId xmlns:r="http://schemas.openxmlformats.org/officeDocument/2006/relationships" id="260" r:id="R5e3e44df19964a09"/>
    <p:sldId xmlns:r="http://schemas.openxmlformats.org/officeDocument/2006/relationships" id="261" r:id="R52283666593e421d"/>
    <p:sldId xmlns:r="http://schemas.openxmlformats.org/officeDocument/2006/relationships" id="262" r:id="R1dc382f566c5443a"/>
    <p:sldId xmlns:r="http://schemas.openxmlformats.org/officeDocument/2006/relationships" id="263" r:id="Rf2731391e19243b7"/>
    <p:sldId xmlns:r="http://schemas.openxmlformats.org/officeDocument/2006/relationships" id="264" r:id="R9132f6527fa04802"/>
    <p:sldId xmlns:r="http://schemas.openxmlformats.org/officeDocument/2006/relationships" id="265" r:id="Ra956ebb3af4f41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9888aa4d8d459d" /><Relationship Type="http://schemas.openxmlformats.org/officeDocument/2006/relationships/slideMaster" Target="/ppt/slideMasters/slideMaster1.xml" Id="R2583ff9f03104cd1" /><Relationship Type="http://schemas.openxmlformats.org/officeDocument/2006/relationships/notesMaster" Target="/ppt/notesMasters/notesMaster1.xml" Id="R7d71f3d5aa30469f" /><Relationship Type="http://schemas.openxmlformats.org/officeDocument/2006/relationships/presProps" Target="/ppt/presProps.xml" Id="Ra37b8a232b4545bc" /><Relationship Type="http://schemas.openxmlformats.org/officeDocument/2006/relationships/tableStyles" Target="/ppt/tableStyles.xml" Id="R37a426887d544fab" /><Relationship Type="http://schemas.openxmlformats.org/officeDocument/2006/relationships/slide" Target="/ppt/slides/slide1.xml" Id="R59a21ae1c90e460d" /><Relationship Type="http://schemas.openxmlformats.org/officeDocument/2006/relationships/slide" Target="/ppt/slides/slide2.xml" Id="Ra6a8d9c7a97741bc" /><Relationship Type="http://schemas.openxmlformats.org/officeDocument/2006/relationships/slide" Target="/ppt/slides/slide3.xml" Id="Re2ecd06be48b488a" /><Relationship Type="http://schemas.openxmlformats.org/officeDocument/2006/relationships/slide" Target="/ppt/slides/slide4.xml" Id="Rd76848082c2648f5" /><Relationship Type="http://schemas.openxmlformats.org/officeDocument/2006/relationships/slide" Target="/ppt/slides/slide5.xml" Id="R5e3e44df19964a09" /><Relationship Type="http://schemas.openxmlformats.org/officeDocument/2006/relationships/slide" Target="/ppt/slides/slide6.xml" Id="R52283666593e421d" /><Relationship Type="http://schemas.openxmlformats.org/officeDocument/2006/relationships/slide" Target="/ppt/slides/slide7.xml" Id="R1dc382f566c5443a" /><Relationship Type="http://schemas.openxmlformats.org/officeDocument/2006/relationships/slide" Target="/ppt/slides/slide8.xml" Id="Rf2731391e19243b7" /><Relationship Type="http://schemas.openxmlformats.org/officeDocument/2006/relationships/slide" Target="/ppt/slides/slide9.xml" Id="R9132f6527fa04802" /><Relationship Type="http://schemas.openxmlformats.org/officeDocument/2006/relationships/slide" Target="/ppt/slides/slide10.xml" Id="Ra956ebb3af4f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a28a6836834e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4c2680d784139" /><Relationship Type="http://schemas.openxmlformats.org/officeDocument/2006/relationships/notesMaster" Target="/ppt/notesMasters/notesMaster1.xml" Id="Read2285cd39c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d615c3c1f946f7" /><Relationship Type="http://schemas.openxmlformats.org/officeDocument/2006/relationships/notesMaster" Target="/ppt/notesMasters/notesMaster1.xml" Id="R40c3ac9163e341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7a08a3235b4c34" /><Relationship Type="http://schemas.openxmlformats.org/officeDocument/2006/relationships/notesMaster" Target="/ppt/notesMasters/notesMaster1.xml" Id="R08525342080745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a58171bc349d8" /><Relationship Type="http://schemas.openxmlformats.org/officeDocument/2006/relationships/notesMaster" Target="/ppt/notesMasters/notesMaster1.xml" Id="R4358399e313b4d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7effcdcd454b69" /><Relationship Type="http://schemas.openxmlformats.org/officeDocument/2006/relationships/notesMaster" Target="/ppt/notesMasters/notesMaster1.xml" Id="R18342d7ad003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a6462109394c1f" /><Relationship Type="http://schemas.openxmlformats.org/officeDocument/2006/relationships/notesMaster" Target="/ppt/notesMasters/notesMaster1.xml" Id="R1d54734a9bf949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aae7dcd97949ee" /><Relationship Type="http://schemas.openxmlformats.org/officeDocument/2006/relationships/notesMaster" Target="/ppt/notesMasters/notesMaster1.xml" Id="R07a339fda51049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7a57b684444d6" /><Relationship Type="http://schemas.openxmlformats.org/officeDocument/2006/relationships/notesMaster" Target="/ppt/notesMasters/notesMaster1.xml" Id="R3588243d9f6b4c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e7bda8b5884693" /><Relationship Type="http://schemas.openxmlformats.org/officeDocument/2006/relationships/notesMaster" Target="/ppt/notesMasters/notesMaster1.xml" Id="R29390fec088d40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1089234907444b" /><Relationship Type="http://schemas.openxmlformats.org/officeDocument/2006/relationships/notesMaster" Target="/ppt/notesMasters/notesMaster1.xml" Id="R8c14f03439fd42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capa usa uma captura desktop nova da página inicial do projeto em execução local, sem imagem externa ou tela conceitual.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desktop local da página inicial atual em http://localhost:3003/client, em 1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sintetizado a partir das interfaces e dos contratos atuais do frontend e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desktop local da rota /client/vistorias/nova. A interface mostra endereço, tipo do imóvel e orientação do roteiro.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desktop local da rota atual /client/vistorias/nova, posicionada na lista de ambientes e quantidades.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desktop atual da vistoria 0002 em modo demonstrativo. A interface separa a conclusão geral dos achados por evidência.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desktop atual da análise detalhada. A manifestação do responsável aparece abaixo e permanece separada da conclusão original da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captura desktop atual do relatório da vistoria 0002. O documento preserva resultado, evidência e achado no mesmo ambiente.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internas: README.md, app/docs/architecture.md, app/docs/oci-genai-smoke.md, app/src/main/resources/application.properties e OciGenAiIntegrationService.java. O modelo configurado é google.gemini-2.5-flash. O deck não afirma que uma chamada real foi concluída.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Pendências consolidadas a partir da auditoria do repositório. Nenhuma credencial deve ser versionada. A primeira chamada real deve usar imagem sem dados pessoais e controlar custo.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feb77b95141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ee8bd6f0445f4" /><Relationship Type="http://schemas.openxmlformats.org/officeDocument/2006/relationships/slideLayout" Target="/ppt/slideLayouts/slideLayout1.xml" Id="R34c42ea4ab054f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c42ea4ab054f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9818a4bc4a8e" /><Relationship Type="http://schemas.openxmlformats.org/officeDocument/2006/relationships/image" Target="/ppt/media/image.jpeg" Id="R74493ecbd7c64ed5" /><Relationship Type="http://schemas.openxmlformats.org/officeDocument/2006/relationships/notesSlide" Target="/ppt/notesSlides/notesSlide1.xml" Id="R4ae72f7480ed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edc2a2b464932" /><Relationship Type="http://schemas.openxmlformats.org/officeDocument/2006/relationships/image" Target="/ppt/media/image2.jpeg" Id="R570d01fcd79445e7" /><Relationship Type="http://schemas.openxmlformats.org/officeDocument/2006/relationships/notesSlide" Target="/ppt/notesSlides/notesSlide2.xml" Id="R5aba9e04142445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998000726499e" /><Relationship Type="http://schemas.openxmlformats.org/officeDocument/2006/relationships/notesSlide" Target="/ppt/notesSlides/notesSlide3.xml" Id="Rbae8dd1a14ed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c8507d4a473b" /><Relationship Type="http://schemas.openxmlformats.org/officeDocument/2006/relationships/image" Target="/ppt/media/image3.jpeg" Id="Re3a81e09b38d4f1b" /><Relationship Type="http://schemas.openxmlformats.org/officeDocument/2006/relationships/notesSlide" Target="/ppt/notesSlides/notesSlide4.xml" Id="Re146200630e1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f31d7970d46fc" /><Relationship Type="http://schemas.openxmlformats.org/officeDocument/2006/relationships/image" Target="/ppt/media/image4.jpeg" Id="R752cb6d00c944c71" /><Relationship Type="http://schemas.openxmlformats.org/officeDocument/2006/relationships/notesSlide" Target="/ppt/notesSlides/notesSlide5.xml" Id="R27d7df8641d445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f3dcaddd6426d" /><Relationship Type="http://schemas.openxmlformats.org/officeDocument/2006/relationships/image" Target="/ppt/media/image5.jpeg" Id="Rdf744de1443f4587" /><Relationship Type="http://schemas.openxmlformats.org/officeDocument/2006/relationships/notesSlide" Target="/ppt/notesSlides/notesSlide6.xml" Id="Rce1732697e1f4a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588bf03fe4d36" /><Relationship Type="http://schemas.openxmlformats.org/officeDocument/2006/relationships/image" Target="/ppt/media/image6.jpeg" Id="R0cb779d281164519" /><Relationship Type="http://schemas.openxmlformats.org/officeDocument/2006/relationships/notesSlide" Target="/ppt/notesSlides/notesSlide7.xml" Id="R5699a03138724e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bcc18ee224b42" /><Relationship Type="http://schemas.openxmlformats.org/officeDocument/2006/relationships/image" Target="/ppt/media/image7.jpeg" Id="Rb5cd5f10f62f4f06" /><Relationship Type="http://schemas.openxmlformats.org/officeDocument/2006/relationships/notesSlide" Target="/ppt/notesSlides/notesSlide8.xml" Id="Ra647c86e7d4342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a3fc913704a93" /><Relationship Type="http://schemas.openxmlformats.org/officeDocument/2006/relationships/notesSlide" Target="/ppt/notesSlides/notesSlide9.xml" Id="Rafd2db49bc7f45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61996dbf94eba" /><Relationship Type="http://schemas.openxmlformats.org/officeDocument/2006/relationships/notesSlide" Target="/ppt/notesSlides/notesSlide10.xml" Id="R55c4fcfbd3854c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F5234-E57B-4F3D-957F-4D3F8E3B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93ecbd7c64ed5"/>
          <a:stretch xmlns:a="http://schemas.openxmlformats.org/drawingml/2006/main"/>
        </p:blipFill>
        <p:spPr>
          <a:xfrm xmlns:a="http://schemas.openxmlformats.org/drawingml/2006/main">
            <a:off x="5048250" y="1144191"/>
            <a:ext cx="6667500" cy="3750469"/>
          </a:xfrm>
          <a:prstGeom xmlns:a="http://schemas.openxmlformats.org/drawingml/2006/main" prst="roundRect">
            <a:avLst>
              <a:gd name="adj" fmla="val 507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C3C44-7258-4814-9FD6-B5309F5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67300"/>
            <a:ext cx="666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7D3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1BC45-4831-4AF2-B6E6-3FA0CF4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Interface real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86A7A-0FD8-41AE-BEC8-6402A69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8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Captura desktop da aplicação em execução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4D05D-D8E2-44D6-A7D8-45F9AC6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Vistor.IA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7E1C9-5FCC-4237-A50C-77FAB9B9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Relatório de vistoria</a:t>
            </a:r>
          </a:p>
          <a:p xmlns:a="http://schemas.openxmlformats.org/drawingml/2006/main">
            <a:pPr algn="l">
              <a:defRPr sz="37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por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0C9B4-202A-4FD1-9282-8D48CA3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E5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DE5E1"/>
                </a:solidFill>
                <a:latin typeface="Arial"/>
                <a:ea typeface="Arial"/>
                <a:cs typeface="Arial"/>
              </a:rPr>
              <a:t>Fluxo do produto e telas atuais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06829-65B2-4E54-8A71-74F1401A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7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7C3"/>
                </a:solidFill>
                <a:latin typeface="Arial"/>
                <a:ea typeface="Arial"/>
                <a:cs typeface="Arial"/>
              </a:rPr>
              <a:t>Visão para alinhamento do grupo ·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164005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9C727-4CE0-4154-A663-79D1AA57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Página inicial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2AD8A-DE4F-4D3B-A0F6-41F73C2B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O cliente acompanha a vistoria, entende o fluxo e acessa o relatório concluído.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d01fcd79445e7"/>
          <a:stretch xmlns:a="http://schemas.openxmlformats.org/drawingml/2006/main"/>
        </p:blipFill>
        <p:spPr>
          <a:xfrm xmlns:a="http://schemas.openxmlformats.org/drawingml/2006/main">
            <a:off x="1710267" y="1428750"/>
            <a:ext cx="8771467" cy="4933950"/>
          </a:xfrm>
          <a:prstGeom xmlns:a="http://schemas.openxmlformats.org/drawingml/2006/main" prst="roundRect">
            <a:avLst>
              <a:gd name="adj" fmla="val 34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252A7-285F-44BA-9E1B-80D1E7D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49DAC-F890-42A3-8DA1-33685468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1249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7D451-5F80-46C5-817E-07BC0C62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Fluxo principal do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F31C1-B434-4DD2-845D-20FD4AF4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A estrutura mantém flexibilidade na entrada e padronização no resultado.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94044-7D7D-4A27-AF8D-13466BFD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C7D3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B6E1-9833-495F-A5A4-0A0B8E6D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77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84D80-994D-455D-B9AE-8CB513B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509AF-AD3C-447A-9F8F-F07D493D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316F4-3A7B-469F-9E82-F184F296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Endereço, tipo de imóvel e quantidade de ambientes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A16F6-068C-4D9E-9054-BC6771B1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6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3877E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B020A-387A-44C9-B08F-60A8C9C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C7D3C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F7AA4-0630-489A-8D9B-387BCC8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77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BACB3-37FB-4A26-91FE-42AB6319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27E2D-CAEF-48B9-84E4-0568429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BCEEA-DEC8-4278-8FF6-15F0962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29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Visão geral obrigatória e detalhes opcionais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688A4-D9AA-4DDB-B676-72E639C6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52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6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3877E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353FF-7858-4719-B07A-3265AF45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2F30"/>
          </a:solidFill>
          <a:ln xmlns:a="http://schemas.openxmlformats.org/drawingml/2006/main" w="9525">
            <a:solidFill>
              <a:srgbClr val="082F3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419BD-1971-495B-BDBD-14AB20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2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B6702-D57A-4364-8936-BB3ECE8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86E0B-0E90-43BE-8824-B450328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Análise da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D6F77-EC30-40C4-9C77-7BABA2E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E3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E3DF"/>
                </a:solidFill>
                <a:latin typeface="Arial"/>
                <a:ea typeface="Arial"/>
                <a:cs typeface="Arial"/>
              </a:rPr>
              <a:t>Resultado por ambiente, achados e limitações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BF14A-1209-47CB-B846-6894C640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6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3877E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050A5-4F77-45B0-8D0E-7CC0F76A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52625"/>
            <a:ext cx="2381250" cy="2762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9525">
            <a:solidFill>
              <a:srgbClr val="C7D3C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362AB-A04F-4234-A9EA-93D2617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43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77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B688E-2144-4152-B8F8-3D268CF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43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E07F7-B970-4282-B40C-F3182E9D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Relatório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45B4C-CBB0-4A74-92FF-A057228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29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Documento final com rastreabilidade e manifestação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04BF3-60D5-4226-8ACD-269AD678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Regra do MVP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AC119-E59F-4301-9A5B-C44A593B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A IA define o resultado automatizado. O usuário pode registrar contexto ou contestação, mas não substitui a análise original.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E7E2A-AD18-4CC0-A2E0-C42CCD6A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60AB7-9ACC-4DB7-A81B-F231F72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2511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E3F0C-FAB7-42EB-9337-6787F077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Configuração da nova vistoria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40800-1788-4DE8-96B5-213BCC07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O tipo do imóvel sugere um roteiro inicial, sem impor ambientes que não existem.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81e09b38d4f1b"/>
          <a:stretch xmlns:a="http://schemas.openxmlformats.org/drawingml/2006/main"/>
        </p:blipFill>
        <p:spPr>
          <a:xfrm xmlns:a="http://schemas.openxmlformats.org/drawingml/2006/main">
            <a:off x="1710267" y="1428750"/>
            <a:ext cx="8771467" cy="4933950"/>
          </a:xfrm>
          <a:prstGeom xmlns:a="http://schemas.openxmlformats.org/drawingml/2006/main" prst="roundRect">
            <a:avLst>
              <a:gd name="adj" fmla="val 34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4D2E1-6AEA-4849-B9E8-A18A5E0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2A113-10B0-4F7C-9C39-3D4508C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3435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FCEE6-02B8-421C-80DD-5B4BB016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Ambientes e quantidades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3588A-7CA4-4684-B846-BB62F8AC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7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D3"/>
                </a:solidFill>
                <a:latin typeface="Arial"/>
                <a:ea typeface="Arial"/>
                <a:cs typeface="Arial"/>
              </a:rPr>
              <a:t>Cada quantidade cria uma etapa separada. O usuário ainda pode personalizar, reordenar ou remover ambientes.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cb6d00c944c71"/>
          <a:stretch xmlns:a="http://schemas.openxmlformats.org/drawingml/2006/main"/>
        </p:blipFill>
        <p:spPr>
          <a:xfrm xmlns:a="http://schemas.openxmlformats.org/drawingml/2006/main">
            <a:off x="1710267" y="1428750"/>
            <a:ext cx="8771467" cy="4933950"/>
          </a:xfrm>
          <a:prstGeom xmlns:a="http://schemas.openxmlformats.org/drawingml/2006/main" prst="roundRect">
            <a:avLst>
              <a:gd name="adj" fmla="val 34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95CBB-A793-416F-BBE5-0B1746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D8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D8D4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38A9E-C580-4B20-BF6B-21E9E7F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D8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D8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7558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94F8B-2AFB-41AE-BA96-43917CDE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Resultado da análise visual por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7814A-EA08-41B2-917B-6EE3765D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A interface mostra a conclusão do imóvel e explica por que a IA chegou a esse resultado.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44de1443f4587"/>
          <a:stretch xmlns:a="http://schemas.openxmlformats.org/drawingml/2006/main"/>
        </p:blipFill>
        <p:spPr>
          <a:xfrm xmlns:a="http://schemas.openxmlformats.org/drawingml/2006/main">
            <a:off x="1710267" y="1428750"/>
            <a:ext cx="8771467" cy="4933950"/>
          </a:xfrm>
          <a:prstGeom xmlns:a="http://schemas.openxmlformats.org/drawingml/2006/main" prst="roundRect">
            <a:avLst>
              <a:gd name="adj" fmla="val 34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96A01-4FE3-4C97-9E98-8978E3B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E40E1-18F1-40BE-84B8-41C6448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7846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7DB1D-5B18-44E3-A295-1996FFAE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Achado explicado pela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23185-C5A4-4523-BB9E-5794746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Cada achado informa o ambiente, o critério avaliado, o indício visual, a gravidade e a próxima ação.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779d281164519"/>
          <a:stretch xmlns:a="http://schemas.openxmlformats.org/drawingml/2006/main"/>
        </p:blipFill>
        <p:spPr>
          <a:xfrm xmlns:a="http://schemas.openxmlformats.org/drawingml/2006/main">
            <a:off x="1710267" y="1428750"/>
            <a:ext cx="8771467" cy="4933950"/>
          </a:xfrm>
          <a:prstGeom xmlns:a="http://schemas.openxmlformats.org/drawingml/2006/main" prst="roundRect">
            <a:avLst>
              <a:gd name="adj" fmla="val 34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87082-1B17-45DA-B5C0-D30E44A5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F0DFE-0CC5-440C-BC59-34DF0EFD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5481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1D4A9-8BC2-4107-8F3E-AFB38ABB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Relatório organizado por ambiente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500F6-E702-4F83-8C86-DC5832AF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O documento apresenta o resultado geral e mantém cada evidência ligada ao ambiente correspondente.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d5f10f62f4f06"/>
          <a:stretch xmlns:a="http://schemas.openxmlformats.org/drawingml/2006/main"/>
        </p:blipFill>
        <p:spPr>
          <a:xfrm xmlns:a="http://schemas.openxmlformats.org/drawingml/2006/main">
            <a:off x="1710267" y="1428750"/>
            <a:ext cx="8771467" cy="4933950"/>
          </a:xfrm>
          <a:prstGeom xmlns:a="http://schemas.openxmlformats.org/drawingml/2006/main" prst="roundRect">
            <a:avLst>
              <a:gd name="adj" fmla="val 347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8A44-5EF0-433F-9B8C-702A6B85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DDA5D-9F5D-4D85-89DD-A7A63E0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3206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1043A-7520-4E62-BC9A-23F2E67C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Arquitetura prevista para a análise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52F38-F8D9-444C-A7A4-0F6C145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3DB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BD7"/>
                </a:solidFill>
                <a:latin typeface="Arial"/>
                <a:ea typeface="Arial"/>
                <a:cs typeface="Arial"/>
              </a:rPr>
              <a:t>O código já contém o adaptador de IA. A validação real depende das credenciais e da cota da tenancy Oracle.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5BF7B-9767-46E4-AFAE-589A2E3C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43F40"/>
          </a:solidFill>
          <a:ln xmlns:a="http://schemas.openxmlformats.org/drawingml/2006/main" w="9525">
            <a:solidFill>
              <a:srgbClr val="3B666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C7CA1-A647-4540-AC17-48C6EE1B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C8EEC-512C-44E4-A423-17673368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827B1-9DC7-4D76-9D37-46A5C6EA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3DB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DBD7"/>
                </a:solidFill>
                <a:latin typeface="Arial"/>
                <a:ea typeface="Arial"/>
                <a:cs typeface="Arial"/>
              </a:rPr>
              <a:t>Fotos e contexto do ambiente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C3330-2AF2-49C0-B06A-E359D067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6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43D2C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79779-DF0B-4C39-A654-42C7174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43F40"/>
          </a:solidFill>
          <a:ln xmlns:a="http://schemas.openxmlformats.org/drawingml/2006/main" w="9525">
            <a:solidFill>
              <a:srgbClr val="3B666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D6986-6832-477D-98BC-E4A5C26B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E14BB-A506-45EC-BA32-63F4F333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Backend Spring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A2048-AD30-44D8-B2EB-26B9EE8D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3DB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DBD7"/>
                </a:solidFill>
                <a:latin typeface="Arial"/>
                <a:ea typeface="Arial"/>
                <a:cs typeface="Arial"/>
              </a:rPr>
              <a:t>Validação, storage e orquestração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B22C0-50A0-4D18-97C2-7162A04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6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43D2C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AA4DE-6C27-4B2D-AAC2-F8F48575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43D2C8"/>
          </a:solidFill>
          <a:ln xmlns:a="http://schemas.openxmlformats.org/drawingml/2006/main" w="9525">
            <a:solidFill>
              <a:srgbClr val="43D2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67457-A123-4C25-A939-F5FDD34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0736A-4B21-4E84-964A-9C5B71CE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0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OCI Generative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B066F-139B-4369-9F0C-0D0D7146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F30"/>
                </a:solidFill>
                <a:latin typeface="Arial"/>
                <a:ea typeface="Arial"/>
                <a:cs typeface="Arial"/>
              </a:rPr>
              <a:t>Gemini 2.5 Flash configurado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6B60E-CD4D-4623-8E45-414E58D8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66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43D2C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92AF5-970C-4A5C-A123-54D4A8C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95500"/>
            <a:ext cx="228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43F40"/>
          </a:solidFill>
          <a:ln xmlns:a="http://schemas.openxmlformats.org/drawingml/2006/main" w="9525">
            <a:solidFill>
              <a:srgbClr val="3B666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06E66-EF3E-4536-A693-34D6838F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3A71C-7AE1-4D91-A961-8E0D6BD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Contrato padronizado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B95AA-2BD9-40A3-8FF5-C8EDBA0C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3DB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DBD7"/>
                </a:solidFill>
                <a:latin typeface="Arial"/>
                <a:ea typeface="Arial"/>
                <a:cs typeface="Arial"/>
              </a:rPr>
              <a:t>Resultado, motivos e achados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49A03-33E5-459B-B989-8F58FB0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43F40"/>
          </a:solidFill>
          <a:ln xmlns:a="http://schemas.openxmlformats.org/drawingml/2006/main" w="9525">
            <a:solidFill>
              <a:srgbClr val="3B666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A70AE-1859-4E72-827E-4B9AF6FA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Validado localmente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A3373-AA8C-40A4-B747-53A5BBD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Fluxo, contratos, tratamento de falhas e modo demonstrativo.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3D9E62-27BD-42B4-933D-06F92392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521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A3A22"/>
          </a:solidFill>
          <a:ln xmlns:a="http://schemas.openxmlformats.org/drawingml/2006/main" w="9525">
            <a:solidFill>
              <a:srgbClr val="7F653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64519-58FC-4D23-9DE1-C1491743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86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C6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C66F"/>
                </a:solidFill>
                <a:latin typeface="Arial"/>
                <a:ea typeface="Arial"/>
                <a:cs typeface="Arial"/>
              </a:rPr>
              <a:t>Pendente no ambiente Oracle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191F1-2BDD-4458-A08F-8B6A946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721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EFA"/>
                </a:solidFill>
                <a:latin typeface="Arial"/>
                <a:ea typeface="Arial"/>
                <a:cs typeface="Arial"/>
              </a:rPr>
              <a:t>Smoke test multimodal com credenciais e cota reais.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7959B-F67E-413F-9FED-67E83EDB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D8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D8D4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B50F1-03D9-445C-8C1F-A45ABBE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D8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D8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0217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9B0C1-E050-47F2-9C8E-E484C2E1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Estado atual do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640E-51A5-4658-9C48-F09D9EA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O produto já comunica a proposta completa. A última validação precisa acontecer na infraestrutura do grupo.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E237B-F1F5-402B-9ADB-0F5348B4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Disponível para 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B92D2-D230-4EF1-8234-87BB8E72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2AAC4-559E-4734-9884-FFE9F33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2F30"/>
                </a:solidFill>
                <a:latin typeface="Arial"/>
                <a:ea typeface="Arial"/>
                <a:cs typeface="Arial"/>
              </a:rPr>
              <a:t>Fluxo flexível por ambientes e quantidades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4A7-3633-4C09-B582-F8868893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97D4A-F7DC-4149-8E9C-957A9A0B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2F30"/>
                </a:solidFill>
                <a:latin typeface="Arial"/>
                <a:ea typeface="Arial"/>
                <a:cs typeface="Arial"/>
              </a:rPr>
              <a:t>Captura orientada com visão geral obrigatória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135A2-B580-48AF-A198-DEC9C4A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64CEA-D0E2-4BC8-B822-862AD925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2F30"/>
                </a:solidFill>
                <a:latin typeface="Arial"/>
                <a:ea typeface="Arial"/>
                <a:cs typeface="Arial"/>
              </a:rPr>
              <a:t>Resultado da IA separado por ambiente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0382F-9D1C-46EF-8A69-1EA7AF6C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1CD96-A752-453F-9552-5F4C918B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2F30"/>
                </a:solidFill>
                <a:latin typeface="Arial"/>
                <a:ea typeface="Arial"/>
                <a:cs typeface="Arial"/>
              </a:rPr>
              <a:t>Manifestação opcional sem substituir a conclusão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8C41B-9C18-4BCB-B41D-9AF3AA6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77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77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9DC45-5F58-448E-AAA5-56F87DFB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2F30"/>
                </a:solidFill>
                <a:latin typeface="Arial"/>
                <a:ea typeface="Arial"/>
                <a:cs typeface="Arial"/>
              </a:rPr>
              <a:t>Relatório final com PDF, compartilhamento e rastreabilidade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F89EB-D26A-4617-820E-3EA3A13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53340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082F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CA081-6405-437E-8AD8-D49DBE85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E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EFA"/>
                </a:solidFill>
                <a:latin typeface="Arial"/>
                <a:ea typeface="Arial"/>
                <a:cs typeface="Arial"/>
              </a:rPr>
              <a:t>Para concluir a integração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BEDD9-ABAD-48DF-9A43-6942253C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2BD6F-341B-4B87-83A0-90E52BF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384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1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1EF"/>
                </a:solidFill>
                <a:latin typeface="Arial"/>
                <a:ea typeface="Arial"/>
                <a:cs typeface="Arial"/>
              </a:rPr>
              <a:t>Receber o arquivo de configuração OCI ou credenciais equivalentes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47038-3A29-4506-9FAC-83C7090E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A5AE2-7EF7-4CDE-882A-001DCFD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1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1EF"/>
                </a:solidFill>
                <a:latin typeface="Arial"/>
                <a:ea typeface="Arial"/>
                <a:cs typeface="Arial"/>
              </a:rPr>
              <a:t>Confirmar o compartment OCID e a região usada pelo projeto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D2039-6DDB-4FAB-B91C-C9AD7CE9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BD01C-78CB-41B8-A47C-73276C1C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433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1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1EF"/>
                </a:solidFill>
                <a:latin typeface="Arial"/>
                <a:ea typeface="Arial"/>
                <a:cs typeface="Arial"/>
              </a:rPr>
              <a:t>Validar a cota do OCI Generative AI para o modelo configurado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0FC06-ECDE-46E7-9DD0-B04F82B1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BA276-32A6-40EA-85BE-471280B4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1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1EF"/>
                </a:solidFill>
                <a:latin typeface="Arial"/>
                <a:ea typeface="Arial"/>
                <a:cs typeface="Arial"/>
              </a:rPr>
              <a:t>Executar um smoke test com uma imagem de teste sem dados pessoais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2131B-1B0A-46B6-A2CE-EEAFDA7E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D2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D2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C862CE-2E67-4D2A-B5F4-3449309B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482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1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1EF"/>
                </a:solidFill>
                <a:latin typeface="Arial"/>
                <a:ea typeface="Arial"/>
                <a:cs typeface="Arial"/>
              </a:rPr>
              <a:t>Registrar a resposta real e ajustar o contrato somente se necessário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6EB1A-105A-4EAE-A698-20B4C04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EB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D4269-EA2E-4367-937C-47ADFB06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F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2F30"/>
                </a:solidFill>
                <a:latin typeface="Arial"/>
                <a:ea typeface="Arial"/>
                <a:cs typeface="Arial"/>
              </a:rPr>
              <a:t>Mensagem para o grupo: a base pode ser reaproveitada. O ponto de decisão agora é liberar e validar o acesso real à Oracle.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1EAA6-6D6E-47FA-8CBE-B7DC7425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Vistor.IA · visão do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23C8C-DAF2-4DEC-9BD2-1CB78252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1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3620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2026-10-01T03:56:21.4520000Z</dcterms:created>
  <dcterms:modified xsi:type="dcterms:W3CDTF">2026-10-01T03:56:21.4520000Z</dcterms:modified>
</coreProperties>
</file>